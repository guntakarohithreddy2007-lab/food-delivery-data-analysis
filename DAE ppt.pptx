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4" r:id="rId6"/>
    <p:sldId id="279" r:id="rId7"/>
    <p:sldId id="276" r:id="rId8"/>
    <p:sldId id="280" r:id="rId9"/>
    <p:sldId id="278" r:id="rId10"/>
    <p:sldId id="286" r:id="rId11"/>
    <p:sldId id="283" r:id="rId12"/>
    <p:sldId id="285" r:id="rId13"/>
    <p:sldId id="284" r:id="rId14"/>
    <p:sldId id="268" r:id="rId15"/>
    <p:sldId id="269" r:id="rId16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597685-9CB6-45F9-A194-17869D503BB0}" v="6" dt="2026-09-22T09:10:40.52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4660"/>
  </p:normalViewPr>
  <p:slideViewPr>
    <p:cSldViewPr>
      <p:cViewPr varScale="1">
        <p:scale>
          <a:sx n="74" d="100"/>
          <a:sy n="74" d="100"/>
        </p:scale>
        <p:origin x="1742" y="1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na chand" userId="6e54419aa65d471c" providerId="LiveId" clId="{2483B58E-5644-4E75-AA46-D334125ADD6E}"/>
    <pc:docChg chg="undo custSel modSld">
      <pc:chgData name="purna chand" userId="6e54419aa65d471c" providerId="LiveId" clId="{2483B58E-5644-4E75-AA46-D334125ADD6E}" dt="2026-09-22T09:13:59.059" v="130" actId="1076"/>
      <pc:docMkLst>
        <pc:docMk/>
      </pc:docMkLst>
      <pc:sldChg chg="addSp delSp modSp mod">
        <pc:chgData name="purna chand" userId="6e54419aa65d471c" providerId="LiveId" clId="{2483B58E-5644-4E75-AA46-D334125ADD6E}" dt="2026-09-22T09:10:12.476" v="82" actId="1076"/>
        <pc:sldMkLst>
          <pc:docMk/>
          <pc:sldMk cId="314495878" sldId="271"/>
        </pc:sldMkLst>
        <pc:spChg chg="add mod">
          <ac:chgData name="purna chand" userId="6e54419aa65d471c" providerId="LiveId" clId="{2483B58E-5644-4E75-AA46-D334125ADD6E}" dt="2026-09-22T09:10:12.476" v="82" actId="1076"/>
          <ac:spMkLst>
            <pc:docMk/>
            <pc:sldMk cId="314495878" sldId="271"/>
            <ac:spMk id="4" creationId="{52502A97-D245-72B2-C4CE-36C3CF74332D}"/>
          </ac:spMkLst>
        </pc:spChg>
        <pc:spChg chg="add del mod">
          <ac:chgData name="purna chand" userId="6e54419aa65d471c" providerId="LiveId" clId="{2483B58E-5644-4E75-AA46-D334125ADD6E}" dt="2026-09-22T09:06:10.678" v="37"/>
          <ac:spMkLst>
            <pc:docMk/>
            <pc:sldMk cId="314495878" sldId="271"/>
            <ac:spMk id="10" creationId="{C3424CE3-2BBD-D949-B6E7-EE563E93A1D9}"/>
          </ac:spMkLst>
        </pc:spChg>
        <pc:spChg chg="mod">
          <ac:chgData name="purna chand" userId="6e54419aa65d471c" providerId="LiveId" clId="{2483B58E-5644-4E75-AA46-D334125ADD6E}" dt="2026-09-22T09:06:53.284" v="48" actId="1076"/>
          <ac:spMkLst>
            <pc:docMk/>
            <pc:sldMk cId="314495878" sldId="271"/>
            <ac:spMk id="12" creationId="{00000000-0000-0000-0000-000000000000}"/>
          </ac:spMkLst>
        </pc:spChg>
        <pc:spChg chg="add mod">
          <ac:chgData name="purna chand" userId="6e54419aa65d471c" providerId="LiveId" clId="{2483B58E-5644-4E75-AA46-D334125ADD6E}" dt="2026-09-22T09:08:39.566" v="64" actId="1076"/>
          <ac:spMkLst>
            <pc:docMk/>
            <pc:sldMk cId="314495878" sldId="271"/>
            <ac:spMk id="13" creationId="{0E34B842-9CD3-AA46-6CA7-F730C9D1D96E}"/>
          </ac:spMkLst>
        </pc:spChg>
        <pc:spChg chg="add mod">
          <ac:chgData name="purna chand" userId="6e54419aa65d471c" providerId="LiveId" clId="{2483B58E-5644-4E75-AA46-D334125ADD6E}" dt="2026-09-22T09:10:07.110" v="81" actId="1076"/>
          <ac:spMkLst>
            <pc:docMk/>
            <pc:sldMk cId="314495878" sldId="271"/>
            <ac:spMk id="15" creationId="{D18714A5-46F1-BD0D-4A00-BB0C1211F660}"/>
          </ac:spMkLst>
        </pc:spChg>
        <pc:spChg chg="add mod">
          <ac:chgData name="purna chand" userId="6e54419aa65d471c" providerId="LiveId" clId="{2483B58E-5644-4E75-AA46-D334125ADD6E}" dt="2026-09-22T09:08:48.654" v="66" actId="1076"/>
          <ac:spMkLst>
            <pc:docMk/>
            <pc:sldMk cId="314495878" sldId="271"/>
            <ac:spMk id="16" creationId="{D359C03E-C4CB-43D3-0C7D-3D50822A8B32}"/>
          </ac:spMkLst>
        </pc:spChg>
        <pc:spChg chg="add mod">
          <ac:chgData name="purna chand" userId="6e54419aa65d471c" providerId="LiveId" clId="{2483B58E-5644-4E75-AA46-D334125ADD6E}" dt="2026-09-22T09:09:02.344" v="69" actId="1076"/>
          <ac:spMkLst>
            <pc:docMk/>
            <pc:sldMk cId="314495878" sldId="271"/>
            <ac:spMk id="18" creationId="{E02D8121-E16D-A49A-1052-85D8AFE05F58}"/>
          </ac:spMkLst>
        </pc:spChg>
        <pc:spChg chg="mod">
          <ac:chgData name="purna chand" userId="6e54419aa65d471c" providerId="LiveId" clId="{2483B58E-5644-4E75-AA46-D334125ADD6E}" dt="2026-09-22T09:08:25.917" v="61" actId="1076"/>
          <ac:spMkLst>
            <pc:docMk/>
            <pc:sldMk cId="314495878" sldId="271"/>
            <ac:spMk id="20" creationId="{00000000-0000-0000-0000-000000000000}"/>
          </ac:spMkLst>
        </pc:spChg>
        <pc:spChg chg="add mod">
          <ac:chgData name="purna chand" userId="6e54419aa65d471c" providerId="LiveId" clId="{2483B58E-5644-4E75-AA46-D334125ADD6E}" dt="2026-09-22T09:09:59.881" v="80" actId="1076"/>
          <ac:spMkLst>
            <pc:docMk/>
            <pc:sldMk cId="314495878" sldId="271"/>
            <ac:spMk id="21" creationId="{B1C9C953-BED3-2F43-1A1F-3B7650BC3A88}"/>
          </ac:spMkLst>
        </pc:spChg>
        <pc:cxnChg chg="add del">
          <ac:chgData name="purna chand" userId="6e54419aa65d471c" providerId="LiveId" clId="{2483B58E-5644-4E75-AA46-D334125ADD6E}" dt="2026-09-22T09:05:07.531" v="24" actId="11529"/>
          <ac:cxnSpMkLst>
            <pc:docMk/>
            <pc:sldMk cId="314495878" sldId="271"/>
            <ac:cxnSpMk id="3" creationId="{F0BC3A08-AD3D-3AB9-73F3-725E1C529C83}"/>
          </ac:cxnSpMkLst>
        </pc:cxnChg>
      </pc:sldChg>
      <pc:sldChg chg="addSp delSp modSp mod">
        <pc:chgData name="purna chand" userId="6e54419aa65d471c" providerId="LiveId" clId="{2483B58E-5644-4E75-AA46-D334125ADD6E}" dt="2026-09-22T09:13:59.059" v="130" actId="1076"/>
        <pc:sldMkLst>
          <pc:docMk/>
          <pc:sldMk cId="3744217247" sldId="281"/>
        </pc:sldMkLst>
        <pc:spChg chg="add">
          <ac:chgData name="purna chand" userId="6e54419aa65d471c" providerId="LiveId" clId="{2483B58E-5644-4E75-AA46-D334125ADD6E}" dt="2026-09-22T09:10:28.519" v="84" actId="22"/>
          <ac:spMkLst>
            <pc:docMk/>
            <pc:sldMk cId="3744217247" sldId="281"/>
            <ac:spMk id="3" creationId="{58C6D514-1AF0-EDB1-7078-687065ECF56B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2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3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4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5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6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7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8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9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20" creationId="{00000000-0000-0000-0000-000000000000}"/>
          </ac:spMkLst>
        </pc:spChg>
        <pc:spChg chg="mod">
          <ac:chgData name="purna chand" userId="6e54419aa65d471c" providerId="LiveId" clId="{2483B58E-5644-4E75-AA46-D334125ADD6E}" dt="2026-09-22T09:10:40.518" v="85"/>
          <ac:spMkLst>
            <pc:docMk/>
            <pc:sldMk cId="3744217247" sldId="281"/>
            <ac:spMk id="23" creationId="{B3782B54-B821-DE87-C2B7-79ECF9E77AF9}"/>
          </ac:spMkLst>
        </pc:spChg>
        <pc:spChg chg="add mod">
          <ac:chgData name="purna chand" userId="6e54419aa65d471c" providerId="LiveId" clId="{2483B58E-5644-4E75-AA46-D334125ADD6E}" dt="2026-09-22T09:13:59.059" v="130" actId="1076"/>
          <ac:spMkLst>
            <pc:docMk/>
            <pc:sldMk cId="3744217247" sldId="281"/>
            <ac:spMk id="25" creationId="{A5CA9835-2A27-E3B2-E349-E0FE4429CFBE}"/>
          </ac:spMkLst>
        </pc:spChg>
        <pc:spChg chg="add mod">
          <ac:chgData name="purna chand" userId="6e54419aa65d471c" providerId="LiveId" clId="{2483B58E-5644-4E75-AA46-D334125ADD6E}" dt="2026-09-22T09:11:43.863" v="99" actId="1076"/>
          <ac:spMkLst>
            <pc:docMk/>
            <pc:sldMk cId="3744217247" sldId="281"/>
            <ac:spMk id="27" creationId="{769BA950-6049-F76A-4A0C-CF5ED87D2763}"/>
          </ac:spMkLst>
        </pc:spChg>
        <pc:spChg chg="add mod">
          <ac:chgData name="purna chand" userId="6e54419aa65d471c" providerId="LiveId" clId="{2483B58E-5644-4E75-AA46-D334125ADD6E}" dt="2026-09-22T09:11:56.197" v="101" actId="1076"/>
          <ac:spMkLst>
            <pc:docMk/>
            <pc:sldMk cId="3744217247" sldId="281"/>
            <ac:spMk id="29" creationId="{3B0312D2-1C2D-0FC3-47A4-8970E0D691E7}"/>
          </ac:spMkLst>
        </pc:spChg>
        <pc:spChg chg="add mod">
          <ac:chgData name="purna chand" userId="6e54419aa65d471c" providerId="LiveId" clId="{2483B58E-5644-4E75-AA46-D334125ADD6E}" dt="2026-09-22T09:12:22.479" v="109" actId="14100"/>
          <ac:spMkLst>
            <pc:docMk/>
            <pc:sldMk cId="3744217247" sldId="281"/>
            <ac:spMk id="31" creationId="{6FA49019-54D3-0F1F-3651-5D4892AE3078}"/>
          </ac:spMkLst>
        </pc:spChg>
        <pc:spChg chg="add mod">
          <ac:chgData name="purna chand" userId="6e54419aa65d471c" providerId="LiveId" clId="{2483B58E-5644-4E75-AA46-D334125ADD6E}" dt="2026-09-22T09:12:33.020" v="111" actId="1076"/>
          <ac:spMkLst>
            <pc:docMk/>
            <pc:sldMk cId="3744217247" sldId="281"/>
            <ac:spMk id="33" creationId="{6D0F4567-D057-4BE7-32A7-334EC2164A2C}"/>
          </ac:spMkLst>
        </pc:spChg>
        <pc:spChg chg="add mod">
          <ac:chgData name="purna chand" userId="6e54419aa65d471c" providerId="LiveId" clId="{2483B58E-5644-4E75-AA46-D334125ADD6E}" dt="2026-09-22T09:13:12.785" v="119" actId="1076"/>
          <ac:spMkLst>
            <pc:docMk/>
            <pc:sldMk cId="3744217247" sldId="281"/>
            <ac:spMk id="35" creationId="{53C43C12-4B70-F721-9E0A-DD8370D3BABC}"/>
          </ac:spMkLst>
        </pc:spChg>
        <pc:spChg chg="add mod">
          <ac:chgData name="purna chand" userId="6e54419aa65d471c" providerId="LiveId" clId="{2483B58E-5644-4E75-AA46-D334125ADD6E}" dt="2026-09-22T09:13:22.745" v="121" actId="1076"/>
          <ac:spMkLst>
            <pc:docMk/>
            <pc:sldMk cId="3744217247" sldId="281"/>
            <ac:spMk id="37" creationId="{D2A13C47-9211-7F6A-3235-E7CA857CC45D}"/>
          </ac:spMkLst>
        </pc:spChg>
        <pc:spChg chg="add mod">
          <ac:chgData name="purna chand" userId="6e54419aa65d471c" providerId="LiveId" clId="{2483B58E-5644-4E75-AA46-D334125ADD6E}" dt="2026-09-22T09:13:51.692" v="129" actId="1076"/>
          <ac:spMkLst>
            <pc:docMk/>
            <pc:sldMk cId="3744217247" sldId="281"/>
            <ac:spMk id="39" creationId="{A378BCE5-A3E9-0942-2521-8A05596F86BE}"/>
          </ac:spMkLst>
        </pc:spChg>
        <pc:grpChg chg="add mod">
          <ac:chgData name="purna chand" userId="6e54419aa65d471c" providerId="LiveId" clId="{2483B58E-5644-4E75-AA46-D334125ADD6E}" dt="2026-09-22T09:10:40.518" v="85"/>
          <ac:grpSpMkLst>
            <pc:docMk/>
            <pc:sldMk cId="3744217247" sldId="281"/>
            <ac:grpSpMk id="4" creationId="{F02D1B8B-963F-84C5-69F0-17C3EECCFD8D}"/>
          </ac:grpSpMkLst>
        </pc:grpChg>
        <pc:picChg chg="mod">
          <ac:chgData name="purna chand" userId="6e54419aa65d471c" providerId="LiveId" clId="{2483B58E-5644-4E75-AA46-D334125ADD6E}" dt="2026-09-22T09:10:40.518" v="85"/>
          <ac:picMkLst>
            <pc:docMk/>
            <pc:sldMk cId="3744217247" sldId="281"/>
            <ac:picMk id="10" creationId="{BD448D2F-A85D-4EA9-4AFA-DBD143FFC367}"/>
          </ac:picMkLst>
        </pc:picChg>
        <pc:picChg chg="del">
          <ac:chgData name="purna chand" userId="6e54419aa65d471c" providerId="LiveId" clId="{2483B58E-5644-4E75-AA46-D334125ADD6E}" dt="2026-09-22T09:10:20.918" v="83" actId="478"/>
          <ac:picMkLst>
            <pc:docMk/>
            <pc:sldMk cId="3744217247" sldId="281"/>
            <ac:picMk id="11" creationId="{A6C365DC-19B7-1764-968A-F9C87D5E4951}"/>
          </ac:picMkLst>
        </pc:picChg>
        <pc:picChg chg="mod">
          <ac:chgData name="purna chand" userId="6e54419aa65d471c" providerId="LiveId" clId="{2483B58E-5644-4E75-AA46-D334125ADD6E}" dt="2026-09-22T09:10:40.518" v="85"/>
          <ac:picMkLst>
            <pc:docMk/>
            <pc:sldMk cId="3744217247" sldId="281"/>
            <ac:picMk id="21" creationId="{70B9531E-FF63-3CBC-8C76-5101CEB24CF2}"/>
          </ac:picMkLst>
        </pc:picChg>
        <pc:picChg chg="mod">
          <ac:chgData name="purna chand" userId="6e54419aa65d471c" providerId="LiveId" clId="{2483B58E-5644-4E75-AA46-D334125ADD6E}" dt="2026-09-22T09:10:40.518" v="85"/>
          <ac:picMkLst>
            <pc:docMk/>
            <pc:sldMk cId="3744217247" sldId="281"/>
            <ac:picMk id="22" creationId="{A51A82D2-D894-569F-6C1F-514FA4F1297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pPr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/abhijitdahatonde/swiggy-restuarant-dataset/data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grubdash-analytics.lovable.app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105156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33464"/>
                </a:solidFill>
                <a:latin typeface="Aptos"/>
              </a:defRPr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Data Analysis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08760"/>
            <a:ext cx="73152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C25B30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877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233464"/>
                </a:solidFill>
                <a:latin typeface="Aptos"/>
              </a:defRPr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Food Delivery Data Analysis</a:t>
            </a:r>
            <a:endParaRPr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7680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375BA0"/>
                </a:solidFill>
                <a:latin typeface="Aptos"/>
              </a:defRPr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Frontend Dashboard &amp;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57600"/>
            <a:ext cx="7955279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resented b</a:t>
            </a:r>
            <a:r>
              <a:rPr lang="en-I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400" b="1" dirty="0" err="1">
                <a:latin typeface="Times New Roman" pitchFamily="18" charset="0"/>
                <a:cs typeface="Times New Roman" pitchFamily="18" charset="0"/>
              </a:rPr>
              <a:t>B.Bhanu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 Prakash reddy (25B11AI102)</a:t>
            </a:r>
            <a:br>
              <a:rPr lang="en-IN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2400" b="1" dirty="0" err="1">
                <a:latin typeface="Times New Roman" pitchFamily="18" charset="0"/>
                <a:cs typeface="Times New Roman" pitchFamily="18" charset="0"/>
              </a:rPr>
              <a:t>M.Ganesh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 reddy              (25B11AI772)</a:t>
            </a:r>
            <a:br>
              <a:rPr lang="en-IN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2400" b="1" dirty="0" err="1">
                <a:latin typeface="Times New Roman" pitchFamily="18" charset="0"/>
                <a:cs typeface="Times New Roman" pitchFamily="18" charset="0"/>
              </a:rPr>
              <a:t>G.Rohit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 reddy                  (25B11AI388)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400" b="1" dirty="0" err="1">
                <a:latin typeface="Times New Roman" pitchFamily="18" charset="0"/>
                <a:cs typeface="Times New Roman" pitchFamily="18" charset="0"/>
              </a:rPr>
              <a:t>T.Santosh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 reddy               (25B11AIC08)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7220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Department of Artificial Intelligence &amp; Machine Learning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65BABF-933A-AAD1-DA9A-02DCA47C8901}"/>
              </a:ext>
            </a:extLst>
          </p:cNvPr>
          <p:cNvSpPr txBox="1"/>
          <p:nvPr/>
        </p:nvSpPr>
        <p:spPr>
          <a:xfrm>
            <a:off x="4361457" y="6589584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GUIDED BY: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74F4C3-90A1-5520-2566-309A2A9470A5}"/>
              </a:ext>
            </a:extLst>
          </p:cNvPr>
          <p:cNvSpPr txBox="1"/>
          <p:nvPr/>
        </p:nvSpPr>
        <p:spPr>
          <a:xfrm>
            <a:off x="3505200" y="6915023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A.SOPHIA MAM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545080" y="269414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19200" y="1676400"/>
            <a:ext cx="7132320" cy="5052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Abstract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Introduction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System &amp; Limitations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Proposed System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Description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Requirements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Methodology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 Dashboard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Expected Outputs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Project Workflow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7000" y="304800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999135"/>
            <a:ext cx="8686800" cy="5101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key areas such as restaurant-wise sales, order trends, delivery efficiency, customer ratings, and customer satisfaction.</a:t>
            </a:r>
          </a:p>
          <a:p>
            <a:pPr algn="just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data analysis techniques, the system identifies high-performing restaurants, o peak ordering hours, and factors affecting customer satisfaction. The expected outcome includes clear visual reports and summaries that support better decision-making by restaurants, delivery partners, and platform managers.</a:t>
            </a:r>
          </a:p>
          <a:p>
            <a:pPr algn="just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21633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877824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• Food delivery platforms generate large amounts of data from orders, restaurants, customers, and deliveries.</a:t>
            </a:r>
          </a:p>
          <a:p>
            <a:r>
              <a:rPr lang="en-IN" sz="2800" dirty="0"/>
              <a:t>• The data provides insights into sales, delivery time, and customer ratings.</a:t>
            </a:r>
          </a:p>
          <a:p>
            <a:r>
              <a:rPr lang="en-IN" sz="2800" dirty="0"/>
              <a:t>• Python is used to clean, process, and </a:t>
            </a:r>
            <a:r>
              <a:rPr lang="en-IN" sz="2800" dirty="0" err="1"/>
              <a:t>analyze</a:t>
            </a:r>
            <a:r>
              <a:rPr lang="en-IN" sz="2800" dirty="0"/>
              <a:t> the data.</a:t>
            </a:r>
          </a:p>
          <a:p>
            <a:r>
              <a:rPr lang="en-IN" sz="2800" dirty="0"/>
              <a:t>• Pandas, NumPy, Matplotlib, and Seaborn are used for analysis and visualization.</a:t>
            </a:r>
          </a:p>
          <a:p>
            <a:r>
              <a:rPr lang="en-IN" sz="2800" dirty="0"/>
              <a:t>• The project helps identify useful trends and patterns in food delivery data.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67000" y="304800"/>
            <a:ext cx="518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Existing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322610"/>
            <a:ext cx="877824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• Food delivery data is generally stored as raw datasets or databases.</a:t>
            </a:r>
          </a:p>
          <a:p>
            <a:r>
              <a:rPr lang="en-IN" sz="2800" dirty="0"/>
              <a:t>• </a:t>
            </a:r>
            <a:r>
              <a:rPr lang="en-IN" sz="2800" dirty="0" err="1"/>
              <a:t>Analyzing</a:t>
            </a:r>
            <a:r>
              <a:rPr lang="en-IN" sz="2800" dirty="0"/>
              <a:t> large food delivery datasets may require manual effort.</a:t>
            </a:r>
          </a:p>
          <a:p>
            <a:r>
              <a:rPr lang="en-IN" sz="2800" dirty="0"/>
              <a:t>• Finding restaurant-wise sales and order information can be difficult.</a:t>
            </a:r>
          </a:p>
          <a:p>
            <a:r>
              <a:rPr lang="en-IN" sz="2800" dirty="0"/>
              <a:t>• Missing and duplicate records may affect data quality.</a:t>
            </a:r>
          </a:p>
          <a:p>
            <a:r>
              <a:rPr lang="en-IN" sz="2800" dirty="0"/>
              <a:t>• Raw tables are difficult to interpret without visualization.</a:t>
            </a:r>
          </a:p>
          <a:p>
            <a:r>
              <a:rPr lang="en-IN" sz="2800" dirty="0"/>
              <a:t>• Limited analysis makes it difficult to identify important food delivery trends.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5B97-4948-1D36-1564-48F01509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D28B387B-EB3D-FC8A-3A51-DDD2B8696A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5B758792-840A-895D-A2CD-A09955CC1720}"/>
              </a:ext>
            </a:extLst>
          </p:cNvPr>
          <p:cNvGrpSpPr/>
          <p:nvPr/>
        </p:nvGrpSpPr>
        <p:grpSpPr>
          <a:xfrm>
            <a:off x="2743200" y="0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290B6E4-4C6A-D92F-FFFC-B388B784351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7F4EE37-279F-308C-F87F-6E638DA1937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8ED23BED-35EB-2EF2-62D6-17D1E3CB000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2F06FBF5-D468-2472-2E09-3659EB0BF5E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43200" y="25603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Limitations of Existing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371600"/>
            <a:ext cx="877824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• Manual analysis of food delivery data is time-consuming.</a:t>
            </a:r>
          </a:p>
          <a:p>
            <a:r>
              <a:rPr lang="en-IN" sz="2800" dirty="0"/>
              <a:t>• Large datasets are difficult to manage and </a:t>
            </a:r>
            <a:r>
              <a:rPr lang="en-IN" sz="2800" dirty="0" err="1"/>
              <a:t>analyze</a:t>
            </a:r>
            <a:r>
              <a:rPr lang="en-IN" sz="2800" dirty="0"/>
              <a:t> manually.</a:t>
            </a:r>
          </a:p>
          <a:p>
            <a:r>
              <a:rPr lang="en-IN" sz="2800" dirty="0"/>
              <a:t>• Missing and duplicate records can affect analysis results.</a:t>
            </a:r>
          </a:p>
          <a:p>
            <a:r>
              <a:rPr lang="en-IN" sz="2800" dirty="0"/>
              <a:t>• Order, sales, and delivery information may be difficult to visualize.</a:t>
            </a:r>
          </a:p>
          <a:p>
            <a:r>
              <a:rPr lang="en-IN" sz="2800" dirty="0"/>
              <a:t>• Identifying customer and restaurant trends can be challenging.</a:t>
            </a:r>
          </a:p>
          <a:p>
            <a:r>
              <a:rPr lang="en-IN" sz="2800" dirty="0"/>
              <a:t>• Manual data processing can lead to errors.</a:t>
            </a:r>
          </a:p>
          <a:p>
            <a:endParaRPr lang="en-IN" sz="2800" dirty="0"/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33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39A132B5-7282-BB0D-41D0-2D605FAF9D2A}"/>
              </a:ext>
            </a:extLst>
          </p:cNvPr>
          <p:cNvGrpSpPr/>
          <p:nvPr/>
        </p:nvGrpSpPr>
        <p:grpSpPr>
          <a:xfrm>
            <a:off x="2743200" y="228600"/>
            <a:ext cx="4997767" cy="1092279"/>
            <a:chOff x="2703195" y="86439"/>
            <a:chExt cx="4997767" cy="1092279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9E5F2C6-879E-09C8-70D8-F12E4105BA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2F6F0F7-7EC3-7119-588E-9CA45688A5E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FF94120-5DAA-BA86-6F61-CE59BF796C6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43200" y="374808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Proposed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1216759"/>
            <a:ext cx="883801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800" dirty="0"/>
              <a:t>Dataset loading and data exploration</a:t>
            </a:r>
          </a:p>
          <a:p>
            <a:pPr lvl="0"/>
            <a:endParaRPr lang="en-IN" sz="2800" dirty="0"/>
          </a:p>
          <a:p>
            <a:pPr lvl="0"/>
            <a:r>
              <a:rPr lang="en-IN" sz="2800" dirty="0"/>
              <a:t>Data cleaning and missing-value handling</a:t>
            </a:r>
          </a:p>
          <a:p>
            <a:pPr lvl="0"/>
            <a:endParaRPr lang="en-IN" sz="2800" dirty="0"/>
          </a:p>
          <a:p>
            <a:pPr lvl="0"/>
            <a:r>
              <a:rPr lang="en-IN" sz="2800" dirty="0"/>
              <a:t>Duplicate removal and data preprocessing</a:t>
            </a:r>
          </a:p>
          <a:p>
            <a:pPr lvl="0"/>
            <a:r>
              <a:rPr lang="en-IN" sz="2800" dirty="0"/>
              <a:t>Order and sales analysis</a:t>
            </a:r>
          </a:p>
          <a:p>
            <a:pPr lvl="0"/>
            <a:endParaRPr lang="en-IN" sz="2800" dirty="0"/>
          </a:p>
          <a:p>
            <a:pPr lvl="0"/>
            <a:r>
              <a:rPr lang="en-IN" sz="2800" dirty="0"/>
              <a:t>Restaurant-wise order analysis</a:t>
            </a:r>
          </a:p>
          <a:p>
            <a:pPr lvl="0"/>
            <a:endParaRPr lang="en-IN" sz="2800" dirty="0"/>
          </a:p>
          <a:p>
            <a:pPr lvl="0"/>
            <a:r>
              <a:rPr lang="en-IN" sz="2800" dirty="0"/>
              <a:t>Delivery time and customer rating analysis</a:t>
            </a:r>
          </a:p>
          <a:p>
            <a:pPr lvl="0"/>
            <a:endParaRPr lang="en-IN" sz="2800" dirty="0"/>
          </a:p>
          <a:p>
            <a:pPr lvl="0"/>
            <a:r>
              <a:rPr lang="en-IN" sz="2800" dirty="0"/>
              <a:t>Data visualization using charts</a:t>
            </a:r>
          </a:p>
          <a:p>
            <a:pPr lvl="0"/>
            <a:endParaRPr lang="en-IN" sz="2800" dirty="0"/>
          </a:p>
          <a:p>
            <a:pPr lvl="0"/>
            <a:r>
              <a:rPr lang="en-IN" sz="2800" dirty="0"/>
              <a:t>Frontend dashboard for summary metrics and insights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944C-8816-A98A-BE5A-6A28E3D1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97977331-EA1C-CA44-869F-6C400FF95B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493C539F-A86A-512C-CDC1-7D279B60EB1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EF4257B-2B43-17B3-FF4F-1187B669162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6F1369C-4970-FF55-E67B-BCF08160A62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F69E22F-BC21-03E7-F9F3-42AA69CA9E9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70ED999-51AF-0BD8-F3EE-37C965CA5C3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22007" y="286489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DATASET DESCRIPTION</a:t>
            </a: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C9293C0C-95B2-174E-BFFC-37B57CECA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21479"/>
              </p:ext>
            </p:extLst>
          </p:nvPr>
        </p:nvGraphicFramePr>
        <p:xfrm>
          <a:off x="290750" y="3481692"/>
          <a:ext cx="9129077" cy="2118360"/>
        </p:xfrm>
        <a:graphic>
          <a:graphicData uri="http://schemas.openxmlformats.org/drawingml/2006/table">
            <a:tbl>
              <a:tblPr/>
              <a:tblGrid>
                <a:gridCol w="1169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3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3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8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956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80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Value (₹)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Time (min)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Date /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ORD1001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Spice Villa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12-03-2025  13:20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ORD1002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Pizza 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12-03-2025  19:05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ORD1003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Burger Hub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13-03-2025  12:40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ORD1004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Biryani House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13-03-2025  20:15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ORD1005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Cafe Aroma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14-03-2025  17:30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ORD1006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Spice Villa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14-03-2025  21:10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7">
            <a:extLst>
              <a:ext uri="{FF2B5EF4-FFF2-40B4-BE49-F238E27FC236}">
                <a16:creationId xmlns:a16="http://schemas.microsoft.com/office/drawing/2014/main" id="{C7E7C7E3-676D-D700-9FD3-61BEE9657D33}"/>
              </a:ext>
            </a:extLst>
          </p:cNvPr>
          <p:cNvSpPr/>
          <p:nvPr/>
        </p:nvSpPr>
        <p:spPr>
          <a:xfrm>
            <a:off x="121349" y="2099634"/>
            <a:ext cx="1890330" cy="510103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02FFFC4-A0BF-3A89-087D-17918667639B}"/>
              </a:ext>
            </a:extLst>
          </p:cNvPr>
          <p:cNvSpPr/>
          <p:nvPr/>
        </p:nvSpPr>
        <p:spPr>
          <a:xfrm>
            <a:off x="121349" y="2099634"/>
            <a:ext cx="1890330" cy="510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14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A4FF31D4-2AC2-7EF8-FDCA-E978593B1CB2}"/>
              </a:ext>
            </a:extLst>
          </p:cNvPr>
          <p:cNvSpPr/>
          <p:nvPr/>
        </p:nvSpPr>
        <p:spPr>
          <a:xfrm>
            <a:off x="2069592" y="2099634"/>
            <a:ext cx="2959607" cy="510103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44C9840D-AB03-0B3C-57F2-9B0F93E44C41}"/>
              </a:ext>
            </a:extLst>
          </p:cNvPr>
          <p:cNvSpPr/>
          <p:nvPr/>
        </p:nvSpPr>
        <p:spPr>
          <a:xfrm>
            <a:off x="2069592" y="2099634"/>
            <a:ext cx="2959607" cy="510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Name</a:t>
            </a:r>
            <a:endParaRPr lang="en-US" sz="1400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82C8A846-1AE5-6AA5-BF1C-99F4C60A3E87}"/>
              </a:ext>
            </a:extLst>
          </p:cNvPr>
          <p:cNvSpPr/>
          <p:nvPr/>
        </p:nvSpPr>
        <p:spPr>
          <a:xfrm>
            <a:off x="5112912" y="2099634"/>
            <a:ext cx="2348591" cy="510103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5FA39372-3BD0-5CF3-9174-1860D6CDF9CB}"/>
              </a:ext>
            </a:extLst>
          </p:cNvPr>
          <p:cNvSpPr/>
          <p:nvPr/>
        </p:nvSpPr>
        <p:spPr>
          <a:xfrm>
            <a:off x="5112912" y="2099634"/>
            <a:ext cx="2348591" cy="510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</a:t>
            </a:r>
            <a:endParaRPr lang="en-US" sz="1400" dirty="0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6470ED78-66FC-2D68-F714-31F21D01AEA3}"/>
              </a:ext>
            </a:extLst>
          </p:cNvPr>
          <p:cNvSpPr/>
          <p:nvPr/>
        </p:nvSpPr>
        <p:spPr>
          <a:xfrm>
            <a:off x="7532316" y="2099634"/>
            <a:ext cx="2348591" cy="510103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806DB56D-4A98-8CCE-669E-D88E42041602}"/>
              </a:ext>
            </a:extLst>
          </p:cNvPr>
          <p:cNvSpPr/>
          <p:nvPr/>
        </p:nvSpPr>
        <p:spPr>
          <a:xfrm>
            <a:off x="7532316" y="2099634"/>
            <a:ext cx="2654099" cy="510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</a:t>
            </a:r>
            <a:endParaRPr lang="en-US" sz="1400" dirty="0"/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CD9D8CFC-0AC9-CF97-63F4-FADB47A7ECDD}"/>
              </a:ext>
            </a:extLst>
          </p:cNvPr>
          <p:cNvSpPr/>
          <p:nvPr/>
        </p:nvSpPr>
        <p:spPr>
          <a:xfrm>
            <a:off x="76200" y="2721426"/>
            <a:ext cx="2959607" cy="510103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B6E67B4E-B678-A8AF-77A3-E7CBD8A7A59E}"/>
              </a:ext>
            </a:extLst>
          </p:cNvPr>
          <p:cNvSpPr/>
          <p:nvPr/>
        </p:nvSpPr>
        <p:spPr>
          <a:xfrm>
            <a:off x="76200" y="2721426"/>
            <a:ext cx="2959607" cy="510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</a:t>
            </a:r>
            <a:endParaRPr lang="en-US" sz="1400" dirty="0"/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790BFDFD-7B25-E93A-4534-E6FA4BC5A705}"/>
              </a:ext>
            </a:extLst>
          </p:cNvPr>
          <p:cNvSpPr/>
          <p:nvPr/>
        </p:nvSpPr>
        <p:spPr>
          <a:xfrm>
            <a:off x="3080820" y="2721426"/>
            <a:ext cx="3265115" cy="510103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CF638535-8540-7774-8455-BC6CAEC84523}"/>
              </a:ext>
            </a:extLst>
          </p:cNvPr>
          <p:cNvSpPr/>
          <p:nvPr/>
        </p:nvSpPr>
        <p:spPr>
          <a:xfrm>
            <a:off x="3080820" y="2721426"/>
            <a:ext cx="3265115" cy="510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/ Time</a:t>
            </a:r>
            <a:endParaRPr lang="en-US" sz="1400" dirty="0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2637C4FB-5002-171E-D255-A37B1B7245E5}"/>
              </a:ext>
            </a:extLst>
          </p:cNvPr>
          <p:cNvSpPr/>
          <p:nvPr/>
        </p:nvSpPr>
        <p:spPr>
          <a:xfrm>
            <a:off x="6448997" y="2721426"/>
            <a:ext cx="1890330" cy="510103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540DB437-363C-74E5-AAF3-DA37FE6EC1EF}"/>
              </a:ext>
            </a:extLst>
          </p:cNvPr>
          <p:cNvSpPr/>
          <p:nvPr/>
        </p:nvSpPr>
        <p:spPr>
          <a:xfrm>
            <a:off x="6448997" y="2721426"/>
            <a:ext cx="1890330" cy="510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16BC7D-08CB-1314-7EB0-11BC2F555E46}"/>
              </a:ext>
            </a:extLst>
          </p:cNvPr>
          <p:cNvSpPr txBox="1"/>
          <p:nvPr/>
        </p:nvSpPr>
        <p:spPr>
          <a:xfrm>
            <a:off x="582323" y="6074100"/>
            <a:ext cx="854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linkClick r:id="rId6"/>
              </a:rPr>
              <a:t>https://www.kaggle.com/datasets/abhijitdahatonde/swiggy-restuarant-dataset/data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037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819400" y="52623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43200" y="25603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234440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1737360"/>
            <a:ext cx="3840480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Processor: Intel i3 or above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RAM: Minimum 4 GB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Storage: 20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3676972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Software Requirements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9207" y="4319577"/>
            <a:ext cx="4023360" cy="2757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Windows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Google Col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Pandas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NumPy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Matplotlib / Seaborn</a:t>
            </a:r>
          </a:p>
        </p:txBody>
      </p:sp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AA0016D3-7773-5779-7092-6F9CE21029A1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46A217E-2E31-DFB1-4E39-E2F3E162267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64EB177-F21B-7D96-47D8-C1C5E892461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945A460-6FAF-2FF4-6137-7DBBB29AF2F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F407D36-A77F-0963-AB50-8100EF5FEE4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3">
            <a:extLst>
              <a:ext uri="{FF2B5EF4-FFF2-40B4-BE49-F238E27FC236}">
                <a16:creationId xmlns:a16="http://schemas.microsoft.com/office/drawing/2014/main" id="{93D168CE-A22D-B76A-3261-D9ECDEAEF4F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987948-74A0-68CC-DC1E-FE017FE3C03F}"/>
              </a:ext>
            </a:extLst>
          </p:cNvPr>
          <p:cNvSpPr txBox="1"/>
          <p:nvPr/>
        </p:nvSpPr>
        <p:spPr>
          <a:xfrm>
            <a:off x="2488870" y="3684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Analysis methodology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B9A93BEE-C338-8FF6-91DB-30DE1EF91469}"/>
              </a:ext>
            </a:extLst>
          </p:cNvPr>
          <p:cNvSpPr/>
          <p:nvPr/>
        </p:nvSpPr>
        <p:spPr>
          <a:xfrm>
            <a:off x="368808" y="1594142"/>
            <a:ext cx="528066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65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5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CA92E8F5-F1A9-6687-8357-7F74F451B2D6}"/>
              </a:ext>
            </a:extLst>
          </p:cNvPr>
          <p:cNvSpPr/>
          <p:nvPr/>
        </p:nvSpPr>
        <p:spPr>
          <a:xfrm>
            <a:off x="917829" y="2049285"/>
            <a:ext cx="8599932" cy="2640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38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workflow we follow</a:t>
            </a:r>
            <a:endParaRPr lang="en-US" sz="1238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C15A0F7C-92AB-A354-AE28-CBD7E38BECF0}"/>
              </a:ext>
            </a:extLst>
          </p:cNvPr>
          <p:cNvSpPr/>
          <p:nvPr/>
        </p:nvSpPr>
        <p:spPr>
          <a:xfrm>
            <a:off x="414909" y="6277585"/>
            <a:ext cx="6035040" cy="2640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7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Data Analysis System  |  Data Analysis Essentials</a:t>
            </a:r>
            <a:endParaRPr lang="en-US" sz="907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4C28AC5E-4121-DC6C-A81D-F2A5C6347B13}"/>
              </a:ext>
            </a:extLst>
          </p:cNvPr>
          <p:cNvSpPr/>
          <p:nvPr/>
        </p:nvSpPr>
        <p:spPr>
          <a:xfrm>
            <a:off x="8750808" y="6277585"/>
            <a:ext cx="905256" cy="2640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7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7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4798ABDA-8E81-1063-E880-6588CBEA3B56}"/>
              </a:ext>
            </a:extLst>
          </p:cNvPr>
          <p:cNvSpPr/>
          <p:nvPr/>
        </p:nvSpPr>
        <p:spPr>
          <a:xfrm>
            <a:off x="678942" y="2377440"/>
            <a:ext cx="2640330" cy="754380"/>
          </a:xfrm>
          <a:prstGeom prst="roundRect">
            <a:avLst>
              <a:gd name="adj" fmla="val 14000"/>
            </a:avLst>
          </a:prstGeom>
          <a:solidFill>
            <a:srgbClr val="2F3C7E"/>
          </a:solidFill>
          <a:ln w="12700">
            <a:solidFill>
              <a:srgbClr val="DD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5961CD63-8B4F-951F-5BC4-1F091886A60B}"/>
              </a:ext>
            </a:extLst>
          </p:cNvPr>
          <p:cNvSpPr/>
          <p:nvPr/>
        </p:nvSpPr>
        <p:spPr>
          <a:xfrm>
            <a:off x="792099" y="2377440"/>
            <a:ext cx="241401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Dataset</a:t>
            </a:r>
            <a:endParaRPr lang="en-US" sz="132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9C5D37F3-6BBC-334F-347F-995E96462391}"/>
              </a:ext>
            </a:extLst>
          </p:cNvPr>
          <p:cNvSpPr/>
          <p:nvPr/>
        </p:nvSpPr>
        <p:spPr>
          <a:xfrm>
            <a:off x="1999107" y="3146908"/>
            <a:ext cx="0" cy="301752"/>
          </a:xfrm>
          <a:prstGeom prst="line">
            <a:avLst/>
          </a:prstGeom>
          <a:noFill/>
          <a:ln w="28575">
            <a:solidFill>
              <a:srgbClr val="F9616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57D9D43C-9A2C-7BC3-AEE6-C937896412FF}"/>
              </a:ext>
            </a:extLst>
          </p:cNvPr>
          <p:cNvSpPr/>
          <p:nvPr/>
        </p:nvSpPr>
        <p:spPr>
          <a:xfrm>
            <a:off x="429033" y="5621274"/>
            <a:ext cx="2640330" cy="7543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CF9BEA78-B66E-4DC5-7F6A-8F4A719EE8E8}"/>
              </a:ext>
            </a:extLst>
          </p:cNvPr>
          <p:cNvSpPr/>
          <p:nvPr/>
        </p:nvSpPr>
        <p:spPr>
          <a:xfrm>
            <a:off x="792099" y="3471291"/>
            <a:ext cx="241401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2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Data Cleaning</a:t>
            </a:r>
            <a:endParaRPr lang="en-US" sz="1320" dirty="0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B641BCAC-B5B1-5D58-F0D6-4BB5942C287E}"/>
              </a:ext>
            </a:extLst>
          </p:cNvPr>
          <p:cNvSpPr/>
          <p:nvPr/>
        </p:nvSpPr>
        <p:spPr>
          <a:xfrm>
            <a:off x="1999107" y="4240759"/>
            <a:ext cx="0" cy="301752"/>
          </a:xfrm>
          <a:prstGeom prst="line">
            <a:avLst/>
          </a:prstGeom>
          <a:noFill/>
          <a:ln w="28575">
            <a:solidFill>
              <a:srgbClr val="F9616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C91D4347-8E4F-8828-E3DD-33A87C629924}"/>
              </a:ext>
            </a:extLst>
          </p:cNvPr>
          <p:cNvSpPr/>
          <p:nvPr/>
        </p:nvSpPr>
        <p:spPr>
          <a:xfrm>
            <a:off x="678942" y="4565142"/>
            <a:ext cx="2640330" cy="7543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803AF760-CEB5-2E64-F686-D32D8EAA078A}"/>
              </a:ext>
            </a:extLst>
          </p:cNvPr>
          <p:cNvSpPr/>
          <p:nvPr/>
        </p:nvSpPr>
        <p:spPr>
          <a:xfrm>
            <a:off x="792099" y="4565142"/>
            <a:ext cx="241401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2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Exploratory Data Analysis</a:t>
            </a:r>
            <a:endParaRPr lang="en-US" sz="1320" dirty="0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C9FBBE82-79F9-5362-8BCA-B919086AA320}"/>
              </a:ext>
            </a:extLst>
          </p:cNvPr>
          <p:cNvSpPr/>
          <p:nvPr/>
        </p:nvSpPr>
        <p:spPr>
          <a:xfrm>
            <a:off x="3356991" y="4942332"/>
            <a:ext cx="377190" cy="0"/>
          </a:xfrm>
          <a:prstGeom prst="line">
            <a:avLst/>
          </a:prstGeom>
          <a:noFill/>
          <a:ln w="28575">
            <a:solidFill>
              <a:srgbClr val="F9616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30C2409A-FA2E-48A9-DF8A-044DCA42C5F6}"/>
              </a:ext>
            </a:extLst>
          </p:cNvPr>
          <p:cNvSpPr/>
          <p:nvPr/>
        </p:nvSpPr>
        <p:spPr>
          <a:xfrm>
            <a:off x="3771900" y="2377440"/>
            <a:ext cx="2640330" cy="7543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1FAEF261-87FE-C40F-DAD5-6D905A30063C}"/>
              </a:ext>
            </a:extLst>
          </p:cNvPr>
          <p:cNvSpPr/>
          <p:nvPr/>
        </p:nvSpPr>
        <p:spPr>
          <a:xfrm>
            <a:off x="3885057" y="2377440"/>
            <a:ext cx="241401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2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Order Analysis</a:t>
            </a:r>
            <a:endParaRPr lang="en-US" sz="1320" dirty="0"/>
          </a:p>
        </p:txBody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3F2F6192-7B0E-EFCD-9C25-2242C34AEAB7}"/>
              </a:ext>
            </a:extLst>
          </p:cNvPr>
          <p:cNvSpPr/>
          <p:nvPr/>
        </p:nvSpPr>
        <p:spPr>
          <a:xfrm>
            <a:off x="5092065" y="3146908"/>
            <a:ext cx="0" cy="301752"/>
          </a:xfrm>
          <a:prstGeom prst="line">
            <a:avLst/>
          </a:prstGeom>
          <a:noFill/>
          <a:ln w="28575">
            <a:solidFill>
              <a:srgbClr val="F9616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D79502C0-12FD-7FF2-A872-D502A45BCE9A}"/>
              </a:ext>
            </a:extLst>
          </p:cNvPr>
          <p:cNvSpPr/>
          <p:nvPr/>
        </p:nvSpPr>
        <p:spPr>
          <a:xfrm>
            <a:off x="3771900" y="3471291"/>
            <a:ext cx="2640330" cy="7543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EF103901-3B4C-13E0-32ED-AB695DFE041C}"/>
              </a:ext>
            </a:extLst>
          </p:cNvPr>
          <p:cNvSpPr/>
          <p:nvPr/>
        </p:nvSpPr>
        <p:spPr>
          <a:xfrm>
            <a:off x="3885057" y="3471291"/>
            <a:ext cx="241401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2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Restaurant Sales Analysis</a:t>
            </a:r>
            <a:endParaRPr lang="en-US" sz="1320" dirty="0"/>
          </a:p>
        </p:txBody>
      </p:sp>
      <p:sp>
        <p:nvSpPr>
          <p:cNvPr id="51" name="Shape 20">
            <a:extLst>
              <a:ext uri="{FF2B5EF4-FFF2-40B4-BE49-F238E27FC236}">
                <a16:creationId xmlns:a16="http://schemas.microsoft.com/office/drawing/2014/main" id="{644AF2DF-9488-3C70-7624-32693F8C306E}"/>
              </a:ext>
            </a:extLst>
          </p:cNvPr>
          <p:cNvSpPr/>
          <p:nvPr/>
        </p:nvSpPr>
        <p:spPr>
          <a:xfrm>
            <a:off x="5092065" y="4240759"/>
            <a:ext cx="0" cy="301752"/>
          </a:xfrm>
          <a:prstGeom prst="line">
            <a:avLst/>
          </a:prstGeom>
          <a:noFill/>
          <a:ln w="28575">
            <a:solidFill>
              <a:srgbClr val="F9616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B0507EDB-D93F-A445-31E8-960911B44CD6}"/>
              </a:ext>
            </a:extLst>
          </p:cNvPr>
          <p:cNvSpPr/>
          <p:nvPr/>
        </p:nvSpPr>
        <p:spPr>
          <a:xfrm>
            <a:off x="3771900" y="4565142"/>
            <a:ext cx="2640330" cy="7543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22">
            <a:extLst>
              <a:ext uri="{FF2B5EF4-FFF2-40B4-BE49-F238E27FC236}">
                <a16:creationId xmlns:a16="http://schemas.microsoft.com/office/drawing/2014/main" id="{EDC21C74-2DF2-4D2A-5302-6AF99639BBD3}"/>
              </a:ext>
            </a:extLst>
          </p:cNvPr>
          <p:cNvSpPr/>
          <p:nvPr/>
        </p:nvSpPr>
        <p:spPr>
          <a:xfrm>
            <a:off x="3885057" y="4565142"/>
            <a:ext cx="241401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2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Delivery Time Analysis</a:t>
            </a:r>
            <a:endParaRPr lang="en-US" sz="132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A90B572C-4A0A-2D55-1BE4-D26F4DDAB7AB}"/>
              </a:ext>
            </a:extLst>
          </p:cNvPr>
          <p:cNvSpPr/>
          <p:nvPr/>
        </p:nvSpPr>
        <p:spPr>
          <a:xfrm>
            <a:off x="6449949" y="4942332"/>
            <a:ext cx="377190" cy="0"/>
          </a:xfrm>
          <a:prstGeom prst="line">
            <a:avLst/>
          </a:prstGeom>
          <a:noFill/>
          <a:ln w="28575">
            <a:solidFill>
              <a:srgbClr val="F9616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24">
            <a:extLst>
              <a:ext uri="{FF2B5EF4-FFF2-40B4-BE49-F238E27FC236}">
                <a16:creationId xmlns:a16="http://schemas.microsoft.com/office/drawing/2014/main" id="{1CE03448-6FDE-F33A-6D27-C0C6BA096C0D}"/>
              </a:ext>
            </a:extLst>
          </p:cNvPr>
          <p:cNvSpPr/>
          <p:nvPr/>
        </p:nvSpPr>
        <p:spPr>
          <a:xfrm>
            <a:off x="6864858" y="2377440"/>
            <a:ext cx="2640330" cy="7543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DBDC0CC0-9141-4F52-EC7B-6F01872A0B33}"/>
              </a:ext>
            </a:extLst>
          </p:cNvPr>
          <p:cNvSpPr/>
          <p:nvPr/>
        </p:nvSpPr>
        <p:spPr>
          <a:xfrm>
            <a:off x="6978015" y="2377440"/>
            <a:ext cx="241401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2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Customer Rating Analysis</a:t>
            </a:r>
            <a:endParaRPr lang="en-US" sz="1320" dirty="0"/>
          </a:p>
        </p:txBody>
      </p:sp>
      <p:sp>
        <p:nvSpPr>
          <p:cNvPr id="63" name="Shape 26">
            <a:extLst>
              <a:ext uri="{FF2B5EF4-FFF2-40B4-BE49-F238E27FC236}">
                <a16:creationId xmlns:a16="http://schemas.microsoft.com/office/drawing/2014/main" id="{EE43DAFB-CE6C-E5FA-D4E5-34328BD28943}"/>
              </a:ext>
            </a:extLst>
          </p:cNvPr>
          <p:cNvSpPr/>
          <p:nvPr/>
        </p:nvSpPr>
        <p:spPr>
          <a:xfrm>
            <a:off x="8185023" y="3146908"/>
            <a:ext cx="0" cy="301752"/>
          </a:xfrm>
          <a:prstGeom prst="line">
            <a:avLst/>
          </a:prstGeom>
          <a:noFill/>
          <a:ln w="28575">
            <a:solidFill>
              <a:srgbClr val="F9616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27">
            <a:extLst>
              <a:ext uri="{FF2B5EF4-FFF2-40B4-BE49-F238E27FC236}">
                <a16:creationId xmlns:a16="http://schemas.microsoft.com/office/drawing/2014/main" id="{88B15F81-54A6-7B58-13AD-A1390991E9F3}"/>
              </a:ext>
            </a:extLst>
          </p:cNvPr>
          <p:cNvSpPr/>
          <p:nvPr/>
        </p:nvSpPr>
        <p:spPr>
          <a:xfrm>
            <a:off x="6864858" y="3471291"/>
            <a:ext cx="2640330" cy="7543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37989E86-1AC4-075E-A50F-F52E6CDF2367}"/>
              </a:ext>
            </a:extLst>
          </p:cNvPr>
          <p:cNvSpPr/>
          <p:nvPr/>
        </p:nvSpPr>
        <p:spPr>
          <a:xfrm>
            <a:off x="6978015" y="3471291"/>
            <a:ext cx="241401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2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Visualization</a:t>
            </a:r>
            <a:endParaRPr lang="en-US" sz="1320" dirty="0"/>
          </a:p>
        </p:txBody>
      </p:sp>
      <p:sp>
        <p:nvSpPr>
          <p:cNvPr id="69" name="Shape 29">
            <a:extLst>
              <a:ext uri="{FF2B5EF4-FFF2-40B4-BE49-F238E27FC236}">
                <a16:creationId xmlns:a16="http://schemas.microsoft.com/office/drawing/2014/main" id="{DAE351E8-DF98-4F64-DA7D-BF6BEFA42D65}"/>
              </a:ext>
            </a:extLst>
          </p:cNvPr>
          <p:cNvSpPr/>
          <p:nvPr/>
        </p:nvSpPr>
        <p:spPr>
          <a:xfrm>
            <a:off x="8185023" y="4240759"/>
            <a:ext cx="0" cy="301752"/>
          </a:xfrm>
          <a:prstGeom prst="line">
            <a:avLst/>
          </a:prstGeom>
          <a:noFill/>
          <a:ln w="28575">
            <a:solidFill>
              <a:srgbClr val="F9616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30">
            <a:extLst>
              <a:ext uri="{FF2B5EF4-FFF2-40B4-BE49-F238E27FC236}">
                <a16:creationId xmlns:a16="http://schemas.microsoft.com/office/drawing/2014/main" id="{14D77D25-FE72-8AFF-ED37-57E612773582}"/>
              </a:ext>
            </a:extLst>
          </p:cNvPr>
          <p:cNvSpPr/>
          <p:nvPr/>
        </p:nvSpPr>
        <p:spPr>
          <a:xfrm>
            <a:off x="6864858" y="4565142"/>
            <a:ext cx="2640330" cy="754380"/>
          </a:xfrm>
          <a:prstGeom prst="roundRect">
            <a:avLst>
              <a:gd name="adj" fmla="val 14000"/>
            </a:avLst>
          </a:prstGeom>
          <a:solidFill>
            <a:srgbClr val="F96167"/>
          </a:solidFill>
          <a:ln w="12700">
            <a:solidFill>
              <a:srgbClr val="DD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831F5E19-03E0-4336-5F1C-74B89B107044}"/>
              </a:ext>
            </a:extLst>
          </p:cNvPr>
          <p:cNvSpPr/>
          <p:nvPr/>
        </p:nvSpPr>
        <p:spPr>
          <a:xfrm>
            <a:off x="6978015" y="4565142"/>
            <a:ext cx="241401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Insights</a:t>
            </a:r>
            <a:endParaRPr lang="en-US" sz="1320" dirty="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0190DC8C-BFA5-1A26-D9A6-6237939CE345}"/>
              </a:ext>
            </a:extLst>
          </p:cNvPr>
          <p:cNvSpPr/>
          <p:nvPr/>
        </p:nvSpPr>
        <p:spPr>
          <a:xfrm>
            <a:off x="678942" y="5847588"/>
            <a:ext cx="87508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5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feeds the next, ending with insights that are easy to explain.</a:t>
            </a:r>
            <a:endParaRPr lang="en-US" sz="1155" dirty="0"/>
          </a:p>
        </p:txBody>
      </p:sp>
    </p:spTree>
    <p:extLst>
      <p:ext uri="{BB962C8B-B14F-4D97-AF65-F5344CB8AC3E}">
        <p14:creationId xmlns:p14="http://schemas.microsoft.com/office/powerpoint/2010/main" val="1304661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Output Screens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6720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233464"/>
                </a:solidFill>
                <a:latin typeface="Aptos"/>
              </a:defRPr>
            </a:pPr>
            <a:r>
              <a:t>Dashboard 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143000"/>
            <a:ext cx="18485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Dashboard: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08643" y="3655367"/>
            <a:ext cx="4144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Upload food delivery Dataset: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2ABA4D-C285-A462-509C-57511986C42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643" y="4172818"/>
            <a:ext cx="4953748" cy="329010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6975EC0-0C40-758F-0DFC-B3296F96ED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778" y="1595153"/>
            <a:ext cx="4865865" cy="328164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A05452B-6327-6663-5A8E-7F58DEAAF104}"/>
              </a:ext>
            </a:extLst>
          </p:cNvPr>
          <p:cNvSpPr txBox="1"/>
          <p:nvPr/>
        </p:nvSpPr>
        <p:spPr>
          <a:xfrm>
            <a:off x="493395" y="5817870"/>
            <a:ext cx="4121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linkClick r:id="rId7"/>
              </a:rPr>
              <a:t>https://grubdash-analytics.lovable.app/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606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29000" y="152400"/>
            <a:ext cx="3265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Output Screens</a:t>
            </a:r>
          </a:p>
          <a:p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5142752" y="3646045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Data Insights: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7291" y="893756"/>
            <a:ext cx="4112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Food Delivery Data Analysis: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122F4D2-E8BE-7BFC-8CFB-943C76465D5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96" y="1311419"/>
            <a:ext cx="4915648" cy="280784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40BF4D1-BC41-DB58-6BB1-5EF07C6579F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752" y="4119265"/>
            <a:ext cx="4915648" cy="32721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67ACC245-70D9-3E8C-5FB8-754CFCF29BA7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520D471-D4E5-A862-75B1-D9BCC13CCE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D22DAB3-C37B-1766-28C4-6EB13F7079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DC96198-DF83-D7E8-5187-D35038090D7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BAA191BE-B616-456E-A32A-06C5D11989B1}"/>
                </a:ext>
              </a:extLst>
            </p:cNvPr>
            <p:cNvSpPr/>
            <p:nvPr/>
          </p:nvSpPr>
          <p:spPr>
            <a:xfrm>
              <a:off x="2828925" y="282892"/>
              <a:ext cx="4534295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/>
                <a:t>                     </a:t>
              </a:r>
              <a:endParaRPr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477248" y="3938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Project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992916"/>
            <a:ext cx="6172200" cy="6779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CSV Dataset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Load Dataset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Data Cleaning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Data Preprocessing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Exploratory Data Analysis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Food Delivery Data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Analysis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Visualization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Frontend Dashboard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Key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Insights</a:t>
            </a:r>
          </a:p>
        </p:txBody>
      </p:sp>
    </p:spTree>
    <p:extLst>
      <p:ext uri="{BB962C8B-B14F-4D97-AF65-F5344CB8AC3E}">
        <p14:creationId xmlns:p14="http://schemas.microsoft.com/office/powerpoint/2010/main" val="49352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88870" y="3684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463040"/>
            <a:ext cx="841248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28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explains delivery performance clearly.</a:t>
            </a:r>
            <a:endParaRPr lang="en-US" sz="28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28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make patterns easy to understand.</a:t>
            </a:r>
            <a:endParaRPr lang="en-US" sz="28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28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and delivery speed can be compared.</a:t>
            </a:r>
            <a:endParaRPr lang="en-US" sz="28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28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help study customer satisfaction.</a:t>
            </a:r>
            <a:endParaRPr lang="en-US" sz="2800" dirty="0"/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0170" y="3470701"/>
            <a:ext cx="2384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C25B30"/>
                </a:solidFill>
                <a:latin typeface="Aptos"/>
              </a:defRPr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Future scope: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BDBD62-33F0-BC09-EDAE-F4AA0F81DD60}"/>
              </a:ext>
            </a:extLst>
          </p:cNvPr>
          <p:cNvSpPr txBox="1"/>
          <p:nvPr/>
        </p:nvSpPr>
        <p:spPr>
          <a:xfrm>
            <a:off x="996951" y="4223655"/>
            <a:ext cx="6643451" cy="2056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lang="en-US" sz="28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dashboard</a:t>
            </a:r>
            <a:endParaRPr lang="en-US" sz="28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lang="en-US" sz="28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Delivery-time prediction</a:t>
            </a:r>
            <a:endParaRPr lang="en-US" sz="28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lang="en-US" sz="28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recommendation</a:t>
            </a:r>
            <a:endParaRPr lang="en-US" sz="28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lang="en-US" sz="28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28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lang="en-US" sz="28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delivery monitoring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400" y="0"/>
            <a:ext cx="8219599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372" y="0"/>
            <a:ext cx="8207655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67812" y="6261424"/>
            <a:ext cx="3922776" cy="310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A36E30A8-BD1B-0058-4620-F390351DAD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186040-FEA2-1FC9-6712-88201F5D0B9D}"/>
              </a:ext>
            </a:extLst>
          </p:cNvPr>
          <p:cNvSpPr txBox="1"/>
          <p:nvPr/>
        </p:nvSpPr>
        <p:spPr>
          <a:xfrm>
            <a:off x="3581400" y="2514600"/>
            <a:ext cx="44005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</a:p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YOU</a:t>
            </a:r>
          </a:p>
        </p:txBody>
      </p:sp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3349</TotalTime>
  <Words>752</Words>
  <Application>Microsoft Office PowerPoint</Application>
  <PresentationFormat>Custom</PresentationFormat>
  <Paragraphs>188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Palatino Linotype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rohith reddy Guntaka</cp:lastModifiedBy>
  <cp:revision>119</cp:revision>
  <cp:lastPrinted>2025-10-14T18:21:49Z</cp:lastPrinted>
  <dcterms:created xsi:type="dcterms:W3CDTF">2025-10-10T08:28:06Z</dcterms:created>
  <dcterms:modified xsi:type="dcterms:W3CDTF">2026-09-28T18:35:36Z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